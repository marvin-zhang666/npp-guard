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f66dc7746a41fd" /><Relationship Type="http://schemas.openxmlformats.org/officeDocument/2006/relationships/extended-properties" Target="/docProps/app.xml" Id="R4eac1b405fe44c60" /><Relationship Type="http://schemas.openxmlformats.org/officeDocument/2006/relationships/officeDocument" Target="/ppt/presentation.xml" Id="R723326e8c8cc4f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468f2535504b6c"/>
  </p:sldMasterIdLst>
  <p:notesMasterIdLst>
    <p:notesMasterId xmlns:r="http://schemas.openxmlformats.org/officeDocument/2006/relationships" r:id="Rda31f417915b4998"/>
  </p:notesMasterIdLst>
  <p:sldIdLst>
    <p:sldId xmlns:r="http://schemas.openxmlformats.org/officeDocument/2006/relationships" id="256" r:id="R8bea49c37bad44b7"/>
    <p:sldId xmlns:r="http://schemas.openxmlformats.org/officeDocument/2006/relationships" id="257" r:id="Rad036e37017c438c"/>
    <p:sldId xmlns:r="http://schemas.openxmlformats.org/officeDocument/2006/relationships" id="258" r:id="R3977bcdc405249d5"/>
    <p:sldId xmlns:r="http://schemas.openxmlformats.org/officeDocument/2006/relationships" id="259" r:id="Rd30302fa68134e08"/>
    <p:sldId xmlns:r="http://schemas.openxmlformats.org/officeDocument/2006/relationships" id="260" r:id="Ref4453587ef24f01"/>
    <p:sldId xmlns:r="http://schemas.openxmlformats.org/officeDocument/2006/relationships" id="261" r:id="Re499efdae72d4a73"/>
    <p:sldId xmlns:r="http://schemas.openxmlformats.org/officeDocument/2006/relationships" id="262" r:id="R8c2f1401c11844c4"/>
    <p:sldId xmlns:r="http://schemas.openxmlformats.org/officeDocument/2006/relationships" id="263" r:id="R9d4e0b6d68c442a1"/>
    <p:sldId xmlns:r="http://schemas.openxmlformats.org/officeDocument/2006/relationships" id="264" r:id="R37c5ae8f9a5a4ab1"/>
    <p:sldId xmlns:r="http://schemas.openxmlformats.org/officeDocument/2006/relationships" id="265" r:id="Rd141e7134a02450c"/>
    <p:sldId xmlns:r="http://schemas.openxmlformats.org/officeDocument/2006/relationships" id="266" r:id="R84716abbe5c64c17"/>
    <p:sldId xmlns:r="http://schemas.openxmlformats.org/officeDocument/2006/relationships" id="267" r:id="Ra2b31bdc95934088"/>
    <p:sldId xmlns:r="http://schemas.openxmlformats.org/officeDocument/2006/relationships" id="268" r:id="R88f67a7f7e704482"/>
    <p:sldId xmlns:r="http://schemas.openxmlformats.org/officeDocument/2006/relationships" id="269" r:id="Rd2a070d40ee143f4"/>
    <p:sldId xmlns:r="http://schemas.openxmlformats.org/officeDocument/2006/relationships" id="270" r:id="Ra71c26ba36454c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e39157cc1e4ca1" /><Relationship Type="http://schemas.openxmlformats.org/officeDocument/2006/relationships/slideMaster" Target="/ppt/slideMasters/slideMaster1.xml" Id="R2e468f2535504b6c" /><Relationship Type="http://schemas.openxmlformats.org/officeDocument/2006/relationships/notesMaster" Target="/ppt/notesMasters/notesMaster1.xml" Id="Rda31f417915b4998" /><Relationship Type="http://schemas.openxmlformats.org/officeDocument/2006/relationships/presProps" Target="/ppt/presProps.xml" Id="R0b823db567064846" /><Relationship Type="http://schemas.openxmlformats.org/officeDocument/2006/relationships/tableStyles" Target="/ppt/tableStyles.xml" Id="R7e5e67af978e44a3" /><Relationship Type="http://schemas.openxmlformats.org/officeDocument/2006/relationships/slide" Target="/ppt/slides/slide1.xml" Id="R8bea49c37bad44b7" /><Relationship Type="http://schemas.openxmlformats.org/officeDocument/2006/relationships/slide" Target="/ppt/slides/slide2.xml" Id="Rad036e37017c438c" /><Relationship Type="http://schemas.openxmlformats.org/officeDocument/2006/relationships/slide" Target="/ppt/slides/slide3.xml" Id="R3977bcdc405249d5" /><Relationship Type="http://schemas.openxmlformats.org/officeDocument/2006/relationships/slide" Target="/ppt/slides/slide4.xml" Id="Rd30302fa68134e08" /><Relationship Type="http://schemas.openxmlformats.org/officeDocument/2006/relationships/slide" Target="/ppt/slides/slide5.xml" Id="Ref4453587ef24f01" /><Relationship Type="http://schemas.openxmlformats.org/officeDocument/2006/relationships/slide" Target="/ppt/slides/slide6.xml" Id="Re499efdae72d4a73" /><Relationship Type="http://schemas.openxmlformats.org/officeDocument/2006/relationships/slide" Target="/ppt/slides/slide7.xml" Id="R8c2f1401c11844c4" /><Relationship Type="http://schemas.openxmlformats.org/officeDocument/2006/relationships/slide" Target="/ppt/slides/slide8.xml" Id="R9d4e0b6d68c442a1" /><Relationship Type="http://schemas.openxmlformats.org/officeDocument/2006/relationships/slide" Target="/ppt/slides/slide9.xml" Id="R37c5ae8f9a5a4ab1" /><Relationship Type="http://schemas.openxmlformats.org/officeDocument/2006/relationships/slide" Target="/ppt/slides/slide10.xml" Id="Rd141e7134a02450c" /><Relationship Type="http://schemas.openxmlformats.org/officeDocument/2006/relationships/slide" Target="/ppt/slides/slide11.xml" Id="R84716abbe5c64c17" /><Relationship Type="http://schemas.openxmlformats.org/officeDocument/2006/relationships/slide" Target="/ppt/slides/slide12.xml" Id="Ra2b31bdc95934088" /><Relationship Type="http://schemas.openxmlformats.org/officeDocument/2006/relationships/slide" Target="/ppt/slides/slide13.xml" Id="R88f67a7f7e704482" /><Relationship Type="http://schemas.openxmlformats.org/officeDocument/2006/relationships/slide" Target="/ppt/slides/slide14.xml" Id="Rd2a070d40ee143f4" /><Relationship Type="http://schemas.openxmlformats.org/officeDocument/2006/relationships/slide" Target="/ppt/slides/slide15.xml" Id="Ra71c26ba36454c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9a338b7a4f46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3563909a54a33" /><Relationship Type="http://schemas.openxmlformats.org/officeDocument/2006/relationships/notesMaster" Target="/ppt/notesMasters/notesMaster1.xml" Id="Ra04547bf6ea24c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54c8f296504d04" /><Relationship Type="http://schemas.openxmlformats.org/officeDocument/2006/relationships/notesMaster" Target="/ppt/notesMasters/notesMaster1.xml" Id="R9c77a825906248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e7a8057e6442a6" /><Relationship Type="http://schemas.openxmlformats.org/officeDocument/2006/relationships/notesMaster" Target="/ppt/notesMasters/notesMaster1.xml" Id="R56509a426f554e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d188bd3c4d4b28" /><Relationship Type="http://schemas.openxmlformats.org/officeDocument/2006/relationships/notesMaster" Target="/ppt/notesMasters/notesMaster1.xml" Id="R164f848f815e43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252a4fb08947e2" /><Relationship Type="http://schemas.openxmlformats.org/officeDocument/2006/relationships/notesMaster" Target="/ppt/notesMasters/notesMaster1.xml" Id="R466c30a493cd4e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6182d8d968405b" /><Relationship Type="http://schemas.openxmlformats.org/officeDocument/2006/relationships/notesMaster" Target="/ppt/notesMasters/notesMaster1.xml" Id="Re851ada3b5fc4b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ad82aa46e84275" /><Relationship Type="http://schemas.openxmlformats.org/officeDocument/2006/relationships/notesMaster" Target="/ppt/notesMasters/notesMaster1.xml" Id="R2c9deda4be004e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7b38492f65449b" /><Relationship Type="http://schemas.openxmlformats.org/officeDocument/2006/relationships/notesMaster" Target="/ppt/notesMasters/notesMaster1.xml" Id="R36608c4b0fe147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eb5e652c1849bc" /><Relationship Type="http://schemas.openxmlformats.org/officeDocument/2006/relationships/notesMaster" Target="/ppt/notesMasters/notesMaster1.xml" Id="Ra22ad9b9879a49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8853975ca64918" /><Relationship Type="http://schemas.openxmlformats.org/officeDocument/2006/relationships/notesMaster" Target="/ppt/notesMasters/notesMaster1.xml" Id="Re347e0dc45424a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7ce18f370b4737" /><Relationship Type="http://schemas.openxmlformats.org/officeDocument/2006/relationships/notesMaster" Target="/ppt/notesMasters/notesMaster1.xml" Id="Rd43c6100a35447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6624e218ed4f32" /><Relationship Type="http://schemas.openxmlformats.org/officeDocument/2006/relationships/notesMaster" Target="/ppt/notesMasters/notesMaster1.xml" Id="Rc14e8580a8b848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bbb58152424dab" /><Relationship Type="http://schemas.openxmlformats.org/officeDocument/2006/relationships/notesMaster" Target="/ppt/notesMasters/notesMaster1.xml" Id="R34a760f436a542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7958b0403148a4" /><Relationship Type="http://schemas.openxmlformats.org/officeDocument/2006/relationships/notesMaster" Target="/ppt/notesMasters/notesMaster1.xml" Id="R6ead6d1cffad4d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3dd210ecf9460e" /><Relationship Type="http://schemas.openxmlformats.org/officeDocument/2006/relationships/notesMaster" Target="/ppt/notesMasters/notesMaster1.xml" Id="R647d7e28bff249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NPP-Guard repository README and results/20_release_validation_summary.json. All claims are research-prototype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docs/NPP-Guard_Final_Technical_Report.md, sections Problem and Methodological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results/09_multi_accident_audit_summary.json; artifacts/v1/manifest.json; docs/figures/20_research_route.mmd.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docs/figures/20_research_route.mmd and docs/NPP-Guard_Final_Technical_Report.md.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results/07_severity_summary.json; results/08_protection_time_summary.json; results/figures/07_true_vs_predicted_severity.png; results/figures/08_predicted_vs_actual_remaining_time.png.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results/10_multi_accident_metrics.csv and results/figures/10_30_vs_60_comparison.png. Values are all-sample random grouped test metrics for A_strict_38.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results/13_ood_summary.json and results/figures/13_baseline_blocked_extrapolation_macro_f1.png.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results/16_summary.json and results/figures/16_conformal_set_size_coverage.png. OOD AUROC is a severity-shift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docs/figures/20_npp_guard_architecture.mmd and artifacts/v1/manifest.json.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results/17_v1_pipeline_parity.json; results/17_v1_regression_tests.csv; results/18_summary.json.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results/18_summary.json; results/figures/18_global_variable_importance.png; results/figures/18_accepted_loca_severity_explanation.png. Attribution is not physical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results/19_dashboard_summary.json; results/19_dashboard_smoke_tests.csv; docs/demo_script.md. No fabricated screenshot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results/20_key_results.csv generated from existing milestone JSON/CSV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docs/competition_materials.md and docs/resume_project_bullets.md.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docs/NPP-Guard_Final_Technical_Report.md and docs/NPP-Guard_v1_Release_Checklist.md.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33b111ee940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541bb6ac344114" /><Relationship Type="http://schemas.openxmlformats.org/officeDocument/2006/relationships/slideLayout" Target="/ppt/slideLayouts/slideLayout1.xml" Id="Re077fa01413c4a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77fa01413c4a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5eaad02064310" /><Relationship Type="http://schemas.openxmlformats.org/officeDocument/2006/relationships/notesSlide" Target="/ppt/notesSlides/notesSlide1.xml" Id="Rc5fa81537ed245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8936ff0134895" /><Relationship Type="http://schemas.openxmlformats.org/officeDocument/2006/relationships/notesSlide" Target="/ppt/notesSlides/notesSlide2.xml" Id="R4920c54af35e4e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cf8f21a3b4210" /><Relationship Type="http://schemas.openxmlformats.org/officeDocument/2006/relationships/notesSlide" Target="/ppt/notesSlides/notesSlide3.xml" Id="Rdf976ff67314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e1e3375de49eb" /><Relationship Type="http://schemas.openxmlformats.org/officeDocument/2006/relationships/notesSlide" Target="/ppt/notesSlides/notesSlide4.xml" Id="R814675dd30c144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c81cb45c94b4d" /><Relationship Type="http://schemas.openxmlformats.org/officeDocument/2006/relationships/image" Target="/ppt/media/image.png" Id="Ra1c78e33242649b8" /><Relationship Type="http://schemas.openxmlformats.org/officeDocument/2006/relationships/image" Target="/ppt/media/image2.png" Id="R3e4a4d2fea1342da" /><Relationship Type="http://schemas.openxmlformats.org/officeDocument/2006/relationships/notesSlide" Target="/ppt/notesSlides/notesSlide5.xml" Id="R68da2241f88840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5bcfb4ff64904" /><Relationship Type="http://schemas.openxmlformats.org/officeDocument/2006/relationships/image" Target="/ppt/media/image3.png" Id="Rd3af2b5bfb0747a3" /><Relationship Type="http://schemas.openxmlformats.org/officeDocument/2006/relationships/notesSlide" Target="/ppt/notesSlides/notesSlide6.xml" Id="Rc08e89aa342b46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0874747284be4" /><Relationship Type="http://schemas.openxmlformats.org/officeDocument/2006/relationships/image" Target="/ppt/media/image4.png" Id="Rc2b8a7ed332f44f0" /><Relationship Type="http://schemas.openxmlformats.org/officeDocument/2006/relationships/notesSlide" Target="/ppt/notesSlides/notesSlide7.xml" Id="Rc61ac989a63048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02a13874e466c" /><Relationship Type="http://schemas.openxmlformats.org/officeDocument/2006/relationships/image" Target="/ppt/media/image5.png" Id="R5f499659179040af" /><Relationship Type="http://schemas.openxmlformats.org/officeDocument/2006/relationships/notesSlide" Target="/ppt/notesSlides/notesSlide8.xml" Id="Rab10d80d924640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51bef350a403c" /><Relationship Type="http://schemas.openxmlformats.org/officeDocument/2006/relationships/notesSlide" Target="/ppt/notesSlides/notesSlide9.xml" Id="R78e8a9b77fb744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4987c5a7245b6" /><Relationship Type="http://schemas.openxmlformats.org/officeDocument/2006/relationships/notesSlide" Target="/ppt/notesSlides/notesSlide10.xml" Id="R39c1749aec824e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93f2e7d6043c7" /><Relationship Type="http://schemas.openxmlformats.org/officeDocument/2006/relationships/image" Target="/ppt/media/image6.png" Id="R20ec6d349e1f48ea" /><Relationship Type="http://schemas.openxmlformats.org/officeDocument/2006/relationships/image" Target="/ppt/media/image7.png" Id="Re20307287a904759" /><Relationship Type="http://schemas.openxmlformats.org/officeDocument/2006/relationships/notesSlide" Target="/ppt/notesSlides/notesSlide11.xml" Id="R2e5c3c961e9647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b2bec70934c37" /><Relationship Type="http://schemas.openxmlformats.org/officeDocument/2006/relationships/notesSlide" Target="/ppt/notesSlides/notesSlide12.xml" Id="R360bb413f8db4f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02e736eaa4975" /><Relationship Type="http://schemas.openxmlformats.org/officeDocument/2006/relationships/notesSlide" Target="/ppt/notesSlides/notesSlide13.xml" Id="Ra06e3996145340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fbf1af6714945" /><Relationship Type="http://schemas.openxmlformats.org/officeDocument/2006/relationships/notesSlide" Target="/ppt/notesSlides/notesSlide14.xml" Id="R782ce1e6a0b749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78820575b484c" /><Relationship Type="http://schemas.openxmlformats.org/officeDocument/2006/relationships/notesSlide" Target="/ppt/notesSlides/notesSlide15.xml" Id="Rb6b61980943041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610C6-1707-4DF3-BD3D-458CD788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99E7D-81F0-4C7C-A3B3-0E411E4A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NPP-GUARD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5F7BA-3D17-45E2-8039-04ED3263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7334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9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从分类器到可审计的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39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核电事故诊断原型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B218C-0F11-4894-86BB-58E21080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8CBD5"/>
                </a:solidFill>
                <a:latin typeface="Arial"/>
                <a:ea typeface="Arial"/>
                <a:cs typeface="Arial"/>
              </a:rPr>
              <a:t>NPPAD 仿真时序数据 · 01–19 研究路线 · v1 release 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99582-99A3-48C5-968A-F0D3624C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9525">
            <a:solidFill>
              <a:srgbClr val="16B8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会拒答 · 可解释 · 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2DEB4-E76F-441A-9330-F120D473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B15C"/>
                </a:solidFill>
                <a:latin typeface="Arial"/>
                <a:ea typeface="Arial"/>
                <a:cs typeface="Arial"/>
              </a:rPr>
              <a:t>科研汇报 / 创新竞赛 / 面试展示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A954F-7221-4A8E-AABF-CD905D2E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1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8CBD5"/>
                </a:solidFill>
                <a:latin typeface="Arial"/>
                <a:ea typeface="Arial"/>
                <a:cs typeface="Arial"/>
              </a:rPr>
              <a:t>2026-09-22</a:t>
            </a:r>
          </a:p>
        </p:txBody>
      </p:sp>
    </p:spTree>
    <p:extLst>
      <p:ext uri="{BB962C8B-B14F-4D97-AF65-F5344CB8AC3E}">
        <p14:creationId xmlns:p14="http://schemas.microsoft.com/office/powerpoint/2010/main" val="48841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0F60F-2A0A-435D-9C68-CB9F9AB2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01 · WHY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58F16-E7C7-4BE2-ADE0-C4FA818A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问题与场景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AF14F-3D27-4A19-A9FE-903CA1F7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92C24-5979-4B6D-BA22-DC128E9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8E974-A6D7-4185-AE35-08998F0D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D211C-99E1-4064-9F12-CB5C565B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事故诊断的难点首先是证据边界，而不是模型数量。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D053A-509D-4907-813E-E6B152D6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0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D7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97AB8-B2FD-4851-B4C5-26CFCFC4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早期窗口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23488-1074-4B03-B49C-DE87B466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8CBD5"/>
                </a:solidFill>
                <a:latin typeface="Arial"/>
                <a:ea typeface="Arial"/>
                <a:cs typeface="Arial"/>
              </a:rPr>
              <a:t>30/60 s 可能没有足够可辨识信息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7DCE9-8CFB-489F-9635-3B8B055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90800"/>
            <a:ext cx="0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64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9DA96-C73E-42AA-B20F-5D548946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标签与耦合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4EE6A-DA75-4299-BD4E-62E4297B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8CBD5"/>
                </a:solidFill>
                <a:latin typeface="Arial"/>
                <a:ea typeface="Arial"/>
                <a:cs typeface="Arial"/>
              </a:rPr>
              <a:t>严重度与过程变量可能高度耦合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E73B0-68E8-4843-9DF8-5F85EAE9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0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64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1CD56-68D9-41F0-9EB5-7432C227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评估泄漏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68338-4678-4A5D-8F8C-F81313FA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8CBD5"/>
                </a:solidFill>
                <a:latin typeface="Arial"/>
                <a:ea typeface="Arial"/>
                <a:cs typeface="Arial"/>
              </a:rPr>
              <a:t>随机拆分时间行会共享同一条轨迹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FBB2C-7B63-4F6F-8423-E50E9BC6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0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647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4293A-7680-441D-BA2D-E2498FD6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分布偏移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CAEB6-216B-4FDE-8797-DBC1F194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8CBD5"/>
                </a:solidFill>
                <a:latin typeface="Arial"/>
                <a:ea typeface="Arial"/>
                <a:cs typeface="Arial"/>
              </a:rPr>
              <a:t>severity extrapolation 会改变任务难度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3795E-6358-4E2C-8F77-5144736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项目目标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581EE-631C-4789-A28F-2D5EB776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26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在证据不足时明确输出 Unknown / Requires Review，并把数据质量、模型依据和限制一起交付。</a:t>
            </a:r>
          </a:p>
        </p:txBody>
      </p:sp>
    </p:spTree>
    <p:extLst>
      <p:ext uri="{BB962C8B-B14F-4D97-AF65-F5344CB8AC3E}">
        <p14:creationId xmlns:p14="http://schemas.microsoft.com/office/powerpoint/2010/main" val="1205659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7A304-8A73-4A25-BD3D-D09DABFA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02 ·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90E9C-FE5D-4A17-930E-1235EDEB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NPPAD 数据与评估挑战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260E9-E423-42AD-B3F8-F81F8835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82091-28D9-4C23-94EC-405A3D04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3DF4C-37EB-441C-9BFC-7B9BFBEF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17729-0453-4251-83BA-93A8D660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固定输入边界，让模型只能使用明确声明的过程信号。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C9CE1-35D1-4C76-86D2-A4524075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381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9384B"/>
          </a:solidFill>
          <a:ln xmlns:a="http://schemas.openxmlformats.org/drawingml/2006/main" w="9525">
            <a:solidFill>
              <a:srgbClr val="19384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NPPAD</a:t>
            </a:r>
          </a:p>
          <a:p xmlns:a="http://schemas.openxmlformats.org/drawingml/2006/main">
            <a:pPr algn="ctr">
              <a:defRPr sz="16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1216 条轨迹</a:t>
            </a:r>
          </a:p>
          <a:p xmlns:a="http://schemas.openxmlformats.org/drawingml/2006/main">
            <a:pPr algn="ctr">
              <a:defRPr sz="16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17 个事故类别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65FFD-9BCE-47CD-8F55-23E96986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D7890-E37C-428D-8BB2-8B68DB4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2381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9525">
            <a:solidFill>
              <a:srgbClr val="16B8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38 个严格过程变量</a:t>
            </a:r>
          </a:p>
          <a:p xmlns:a="http://schemas.openxmlformats.org/drawingml/2006/main">
            <a:pPr algn="ctr"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TIME + 约 10 s 采样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1506D-7243-4F0D-8D23-085242BF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6273C-CABB-42D3-B0FE-4194C66C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57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9384B"/>
          </a:solidFill>
          <a:ln xmlns:a="http://schemas.openxmlformats.org/drawingml/2006/main" w="9525">
            <a:solidFill>
              <a:srgbClr val="19384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190 个派生特征</a:t>
            </a:r>
          </a:p>
          <a:p xmlns:a="http://schemas.openxmlformats.org/drawingml/2006/main">
            <a:pPr algn="ctr">
              <a:defRPr sz="15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last / delta / mean / std / slope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A71E9-5EA6-40B8-8667-CD0B15D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数据审计结论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41317-BDFC-42E2-9F0E-9BD2CB39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6FBFF"/>
                </a:solidFill>
                <a:latin typeface="Arial"/>
                <a:ea typeface="Arial"/>
                <a:cs typeface="Arial"/>
              </a:rPr>
              <a:t>独立 Normal reference 不足 · 事故前仅有 t=0 · singleton 类别延后 · 时间行不随机拆分</a:t>
            </a:r>
          </a:p>
        </p:txBody>
      </p:sp>
    </p:spTree>
    <p:extLst>
      <p:ext uri="{BB962C8B-B14F-4D97-AF65-F5344CB8AC3E}">
        <p14:creationId xmlns:p14="http://schemas.microsoft.com/office/powerpoint/2010/main" val="53877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359F2B-7215-47AE-A0A2-60BAFFC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03 · RESEARCH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9CE30-9C4F-4A4F-852F-5365FE48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研究路线：从负结果到 release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886D1-139D-42F4-9963-2B536F99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CA9E-D8C7-4ECA-9BD6-BFC34C12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3F7FA-3C7A-4363-A875-8316EBE7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C9C20-D960-4188-A3CE-3DDE1F1D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01–06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1EA56-A554-44C8-BC56-52315716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64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C2474-CC33-48D5-A069-4A8347E3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81275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72340-0E5C-4F48-9F93-6ACF7409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数据与 Normal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审计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0ABCC-7F84-4DCC-9E63-8FA72A7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07–08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E008E-C803-4954-B7F1-03FC1CAF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64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A7A09-70E6-4B7A-9612-7618D65A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81275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95D1D-FFC1-4AE7-9108-06D3C967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4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LOCA severity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与 protection-time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3E4B3-BF8C-483F-862D-2348511E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52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09–14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6C14C-FA31-4325-B68E-9AF149B9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647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D4880-3810-40D1-9528-27A3332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81275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2B356-90E4-48D6-B081-6513C419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多事故、稳健性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与 OOD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5E3A5-A1B7-479F-8846-44D306C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15–16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E721E-6B3D-4C86-8EEB-2826295B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241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64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DB07A-3DD9-444F-A644-3E5C76FC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81275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2AABF-5C5A-4228-86DF-AB4C685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4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coverage-aware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与 Unknown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1C5CA-0CE9-4A6E-B362-AD3D0C78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52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17–19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6B55A-4E7E-493A-B21B-29517309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647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BAC31-5B57-49AA-B7D2-34702B0A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4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冻结 release、解释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与 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207FB8-5CA0-4AA1-A50D-E52C93EB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6250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D2638"/>
          </a:solidFill>
          <a:ln xmlns:a="http://schemas.openxmlformats.org/drawingml/2006/main" w="9525">
            <a:solidFill>
              <a:srgbClr val="FFB15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方法学转折：不把 random split 的高分直接当作外部泛化</a:t>
            </a:r>
          </a:p>
        </p:txBody>
      </p:sp>
    </p:spTree>
    <p:extLst>
      <p:ext uri="{BB962C8B-B14F-4D97-AF65-F5344CB8AC3E}">
        <p14:creationId xmlns:p14="http://schemas.microsoft.com/office/powerpoint/2010/main" val="2021362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39E27-1C85-4097-8538-C640E74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04 · LOCA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12E9E-8D72-4FFF-A7C7-1F5A70D7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LOCA 专项：严重度可估计，保护时间仍有限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957C7-BC68-44BC-8967-BEB3A4E5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8E20E-F33D-44E3-B4B2-2E567D88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0C58F-3C32-4648-918F-91784845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78e33242649b8"/>
          <a:stretch xmlns:a="http://schemas.openxmlformats.org/drawingml/2006/main"/>
        </p:blipFill>
        <p:spPr>
          <a:xfrm xmlns:a="http://schemas.openxmlformats.org/drawingml/2006/main">
            <a:off x="1281112" y="1485900"/>
            <a:ext cx="3667125" cy="3333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a4d2fea1342da"/>
          <a:stretch xmlns:a="http://schemas.openxmlformats.org/drawingml/2006/main"/>
        </p:blipFill>
        <p:spPr>
          <a:xfrm xmlns:a="http://schemas.openxmlformats.org/drawingml/2006/main">
            <a:off x="6591300" y="1485900"/>
            <a:ext cx="3867150" cy="3333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4ED34-2C23-4B13-8185-DB957F74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07 · Ridge + 120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ECC8B-16AF-4939-A9A3-6E3ACE52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6FBFF"/>
                </a:solidFill>
                <a:latin typeface="Arial"/>
                <a:ea typeface="Arial"/>
                <a:cs typeface="Arial"/>
              </a:rPr>
              <a:t>MAE 0.4492 percentage points · R² 0.9996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B25AC-3232-4C49-8EC6-67F6CEF4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08 · 60 s + Random Forest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D7438-18BC-4457-92AC-1E81F1D1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91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6FBFF"/>
                </a:solidFill>
                <a:latin typeface="Arial"/>
                <a:ea typeface="Arial"/>
                <a:cs typeface="Arial"/>
              </a:rPr>
              <a:t>MAE 86.826 s · R² 0.3303</a:t>
            </a:r>
          </a:p>
        </p:txBody>
      </p:sp>
    </p:spTree>
    <p:extLst>
      <p:ext uri="{BB962C8B-B14F-4D97-AF65-F5344CB8AC3E}">
        <p14:creationId xmlns:p14="http://schemas.microsoft.com/office/powerpoint/2010/main" val="1727169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1931E-B81E-4D51-97DF-FA306C7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05 · DIAGNOSABILITY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A0C04-3C69-4D9D-A875-5A6B5CA9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多事故诊断：120 s 才出现可见区分度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DAE62-0928-4F4A-B94E-7A28AB04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E9784-DA03-46DF-A2C7-9797988B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4DDF2-3B82-4C9D-A4FD-1CD49779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f2b5bfb0747a3"/>
          <a:stretch xmlns:a="http://schemas.openxmlformats.org/drawingml/2006/main"/>
        </p:blipFill>
        <p:spPr>
          <a:xfrm xmlns:a="http://schemas.openxmlformats.org/drawingml/2006/main">
            <a:off x="685800" y="2320194"/>
            <a:ext cx="4572000" cy="16270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F4EF5-2023-4E0C-94A3-A007795D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8CBD5"/>
                </a:solidFill>
                <a:latin typeface="Arial"/>
                <a:ea typeface="Arial"/>
                <a:cs typeface="Arial"/>
              </a:rPr>
              <a:t>A strict 38 ·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86C43-D3EC-47FE-ABB6-4CDC796A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30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9B325-4D1B-4FF8-B559-692917E8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3143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638"/>
          </a:solidFill>
          <a:ln xmlns:a="http://schemas.openxmlformats.org/drawingml/2006/main" w="9525">
            <a:solidFill>
              <a:srgbClr val="0D263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37EE6-C248-4211-AE51-A491E5FC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606019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7F6B"/>
          </a:solidFill>
          <a:ln xmlns:a="http://schemas.openxmlformats.org/drawingml/2006/main" w="9525">
            <a:solidFill>
              <a:srgbClr val="F47F6B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F06E3-7F90-454E-86F8-C0B2441D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62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7F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7F6B"/>
                </a:solidFill>
                <a:latin typeface="Arial"/>
                <a:ea typeface="Arial"/>
                <a:cs typeface="Arial"/>
              </a:rPr>
              <a:t>0.1928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A8B38-1315-46B7-8332-3617CE86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60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7F3F8-0CF6-4CEB-876B-48F8D121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3143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638"/>
          </a:solidFill>
          <a:ln xmlns:a="http://schemas.openxmlformats.org/drawingml/2006/main" w="9525">
            <a:solidFill>
              <a:srgbClr val="0D263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B9FEA-4EBF-4B4C-8B01-26D4C3C7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606019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7F6B"/>
          </a:solidFill>
          <a:ln xmlns:a="http://schemas.openxmlformats.org/drawingml/2006/main" w="9525">
            <a:solidFill>
              <a:srgbClr val="F47F6B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3EBDF-63C0-422D-9469-F61D952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00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7F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7F6B"/>
                </a:solidFill>
                <a:latin typeface="Arial"/>
                <a:ea typeface="Arial"/>
                <a:cs typeface="Arial"/>
              </a:rPr>
              <a:t>0.1928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5A48C-4E3B-4EA3-B603-4EB3AFA7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120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ED62A-D5DF-4669-8455-582634E1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57650"/>
            <a:ext cx="3143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638"/>
          </a:solidFill>
          <a:ln xmlns:a="http://schemas.openxmlformats.org/drawingml/2006/main" w="9525">
            <a:solidFill>
              <a:srgbClr val="0D263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EB56D-840A-4B60-B43E-AFE80546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57650"/>
            <a:ext cx="236561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CD7E8"/>
          </a:solidFill>
          <a:ln xmlns:a="http://schemas.openxmlformats.org/drawingml/2006/main" w="9525">
            <a:solidFill>
              <a:srgbClr val="4CD7E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D61EB-3812-42AD-A1F5-8DC3A3CB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386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0.7526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76C82-E5B5-4C3F-8B62-B71BF8D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E3830-6F13-4980-9F47-76D0AD44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778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6FBFF"/>
                </a:solidFill>
                <a:latin typeface="Arial"/>
                <a:ea typeface="Arial"/>
                <a:cs typeface="Arial"/>
              </a:rPr>
              <a:t>30/60 s 相同结果触发了特征、采样点、cohort 与预测分布审计；120 s 只作为探索窗口，不是早期预警保证。</a:t>
            </a:r>
          </a:p>
        </p:txBody>
      </p:sp>
    </p:spTree>
    <p:extLst>
      <p:ext uri="{BB962C8B-B14F-4D97-AF65-F5344CB8AC3E}">
        <p14:creationId xmlns:p14="http://schemas.microsoft.com/office/powerpoint/2010/main" val="1579705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425D1-D8F2-49CE-8392-C74209BA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06 · OOD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1DFBC-A94E-4B47-9899-2A17D138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OOD 验证：severity extrapolation 会拉低结果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59229-E398-4D82-9279-1D2484B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D6D94-C3BE-4A2E-959A-BD4F64B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0E839-DE76-4E16-A919-683F0A5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8a7ed332f44f0"/>
          <a:stretch xmlns:a="http://schemas.openxmlformats.org/drawingml/2006/main"/>
        </p:blipFill>
        <p:spPr>
          <a:xfrm xmlns:a="http://schemas.openxmlformats.org/drawingml/2006/main">
            <a:off x="800100" y="1562100"/>
            <a:ext cx="54864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4FFDF-0D54-48EF-951C-BA3EE083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38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8CBD5"/>
                </a:solidFill>
                <a:latin typeface="Arial"/>
                <a:ea typeface="Arial"/>
                <a:cs typeface="Arial"/>
              </a:rPr>
              <a:t>120 s · A strict 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9878E-A99D-4804-9979-3D5C8725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random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3410F-CE6A-4765-A17F-89F3C2EA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0.6573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ECF67-1774-49DB-ACF9-8AC51645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severity-blocked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A8C3B-40B8-41E8-B031-90A954CB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0.5931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3393A-E972-43A0-80D4-952052B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67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extrapolation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22583-25BC-412B-B368-ABFEFD88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67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47F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7F6B"/>
                </a:solidFill>
                <a:latin typeface="Arial"/>
                <a:ea typeface="Arial"/>
                <a:cs typeface="Arial"/>
              </a:rPr>
              <a:t>0.4826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AA1EB-2449-41C0-9433-79F3F7BD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6725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9B781-E2D0-41E9-AD48-0F18F024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530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46A70-F01C-45E6-8B60-0987EFFC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3340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跨严重度压力测试仍不足以支持直接进入深度学习或部署泛化声明。</a:t>
            </a:r>
          </a:p>
        </p:txBody>
      </p:sp>
    </p:spTree>
    <p:extLst>
      <p:ext uri="{BB962C8B-B14F-4D97-AF65-F5344CB8AC3E}">
        <p14:creationId xmlns:p14="http://schemas.microsoft.com/office/powerpoint/2010/main" val="15717122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4CFB8-5EEB-4CC2-AC90-6A5E2299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07 · SELECTIVE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68E2F-6174-492C-A29C-070C3BD2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Selective diagnosis：拒答本身也是输出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EB8DE-F921-40AE-A8C8-32B32C9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53381-48AE-4904-ACD9-17EEE78C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B6E61-8D7E-4662-B813-FDBDE68E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99659179040af"/>
          <a:stretch xmlns:a="http://schemas.openxmlformats.org/drawingml/2006/main"/>
        </p:blipFill>
        <p:spPr>
          <a:xfrm xmlns:a="http://schemas.openxmlformats.org/drawingml/2006/main">
            <a:off x="685800" y="1832882"/>
            <a:ext cx="4953000" cy="28302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6C677-A643-4BE6-BF47-A15F39FE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16 · alpha = 0.10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2758D-678E-4ACB-9940-E0905EF3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8CBD5"/>
                </a:solidFill>
                <a:latin typeface="Arial"/>
                <a:ea typeface="Arial"/>
                <a:cs typeface="Arial"/>
              </a:rPr>
              <a:t>经验 set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FBC6A-7208-4A66-A2E1-71B30157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68.9%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A4C27-19B2-4528-B0F6-42DB244D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8CBD5"/>
                </a:solidFill>
                <a:latin typeface="Arial"/>
                <a:ea typeface="Arial"/>
                <a:cs typeface="Arial"/>
              </a:rPr>
              <a:t>Selective Macro-F1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78931-074F-45EF-AEA1-3CE0D178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81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0.6700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E8FF8-D0D4-4BAA-82CD-F6D57FB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8CBD5"/>
                </a:solidFill>
                <a:latin typeface="Arial"/>
                <a:ea typeface="Arial"/>
                <a:cs typeface="Arial"/>
              </a:rPr>
              <a:t>Distance OOD proxy AUROC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17573-BA49-4E61-B34E-3432AD97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7DE2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DE2A5"/>
                </a:solidFill>
                <a:latin typeface="Arial"/>
                <a:ea typeface="Arial"/>
                <a:cs typeface="Arial"/>
              </a:rPr>
              <a:t>0.8221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E8A66-2ED4-4CD0-898A-5B2CE92E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435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经验覆盖率不等于统计保证；v1 保留 Unknown / Requires Review。</a:t>
            </a:r>
          </a:p>
        </p:txBody>
      </p:sp>
    </p:spTree>
    <p:extLst>
      <p:ext uri="{BB962C8B-B14F-4D97-AF65-F5344CB8AC3E}">
        <p14:creationId xmlns:p14="http://schemas.microsoft.com/office/powerpoint/2010/main" val="8470424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5F3B2-65DD-4F77-BF97-D55EE420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08 · INFERENCE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08C51-9444-4AA2-817C-D501648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NPP-Guard v1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7C435-A411-414C-8A03-99DD0546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1262B-302C-4559-946C-D5582A85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E7590-3F12-43E6-9B85-28F9ED35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F8B70-7D8B-4225-8223-3302C457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9384B"/>
          </a:solidFill>
          <a:ln xmlns:a="http://schemas.openxmlformats.org/drawingml/2006/main" w="9525">
            <a:solidFill>
              <a:srgbClr val="3E647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CSV /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DataFrame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2633E-3454-447B-88FE-3B7469A9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49888-BA88-4F0E-9817-64473E93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9550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9384B"/>
          </a:solidFill>
          <a:ln xmlns:a="http://schemas.openxmlformats.org/drawingml/2006/main" w="9525">
            <a:solidFill>
              <a:srgbClr val="3E647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Data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D6F26-02AF-42CD-8303-8115F85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45BB7-9661-435D-BFB7-616F6F77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9384B"/>
          </a:solidFill>
          <a:ln xmlns:a="http://schemas.openxmlformats.org/drawingml/2006/main" w="9525">
            <a:solidFill>
              <a:srgbClr val="3E647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120 s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5DBB8-AF6D-4924-9661-0E48063F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43A6C-FCCF-4382-8A74-248E7513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9550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2638"/>
          </a:solidFill>
          <a:ln xmlns:a="http://schemas.openxmlformats.org/drawingml/2006/main" w="9525">
            <a:solidFill>
              <a:srgbClr val="3E647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Family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2AEA3-E1DA-408B-A810-90EF5113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09392-5525-485C-B49A-B67DE2FE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2638"/>
          </a:solidFill>
          <a:ln xmlns:a="http://schemas.openxmlformats.org/drawingml/2006/main" w="9525">
            <a:solidFill>
              <a:srgbClr val="3E647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Calibration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+ Conformal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59406-D264-4F38-8B21-867A1D86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06E77-6B8B-4CEC-B950-62BF67CF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2638"/>
          </a:solidFill>
          <a:ln xmlns:a="http://schemas.openxmlformats.org/drawingml/2006/main" w="9525">
            <a:solidFill>
              <a:srgbClr val="3E647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Distance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OOD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697F7-3946-49D7-A0B1-14178825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D7E8"/>
          </a:solidFill>
          <a:ln xmlns:a="http://schemas.openxmlformats.org/drawingml/2006/main" w="0">
            <a:solidFill>
              <a:srgbClr val="4CD7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E9D87-6267-481D-BD0E-475271CF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9525">
            <a:solidFill>
              <a:srgbClr val="16B8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Status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801E2-5AC7-4BF0-8B11-B043A086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1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4C95A-B23D-4906-A310-09658F2A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DE2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DE2A5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38007-4EA5-47E7-860D-D93F1097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05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requires_review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26AF4-9E83-475D-A2F6-313BDBFB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7F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7F6B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AE68E-3902-46E1-B754-32511FBB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05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invalid_input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2FF31-CA85-47E9-BB55-9AA71F20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81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accepted + LOCA family + Tier 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4ADB7-3F0A-4839-AE44-BB70BF66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435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5C"/>
          </a:solidFill>
          <a:ln xmlns:a="http://schemas.openxmlformats.org/drawingml/2006/main" w="0">
            <a:solidFill>
              <a:srgbClr val="FFB1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A4DD2-1329-40C9-BFC9-7E1773B2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LOCA severity</a:t>
            </a:r>
          </a:p>
          <a:p xmlns:a="http://schemas.openxmlformats.org/drawingml/2006/main">
            <a:pPr algn="ctr">
              <a:defRPr sz="150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exploratory gated path</a:t>
            </a:r>
          </a:p>
        </p:txBody>
      </p:sp>
    </p:spTree>
    <p:extLst>
      <p:ext uri="{BB962C8B-B14F-4D97-AF65-F5344CB8AC3E}">
        <p14:creationId xmlns:p14="http://schemas.microsoft.com/office/powerpoint/2010/main" val="1547087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07AC6-4067-41D2-9821-B12FBEE0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09 ·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666A0-A805-4EF1-A9C2-E059BE9D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17.2 release protocol：先隔离，再比较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5DDB3-41C3-4F32-93D4-AD1F2D5E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C718E-31C1-4F21-8447-490A6137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C590D-7C8A-4F3D-A26D-7BF32934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A0A2B-B70F-4EE3-877C-5D774C57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locked release test = 101 条轨迹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A26FA-3CF0-4DF5-A934-9511980F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release test 与所有 fit / calibration 集 zero overlap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E8CFE-A598-4134-A8C4-8FDEDC9D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64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BA0DC-B2A3-45A9-A8BD-D799A59D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9384B"/>
          </a:solidFill>
          <a:ln xmlns:a="http://schemas.openxmlformats.org/drawingml/2006/main" w="9525">
            <a:solidFill>
              <a:srgbClr val="19384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9AAD5-74F4-4168-9E5F-0B273543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9384B"/>
          </a:solidFill>
          <a:ln xmlns:a="http://schemas.openxmlformats.org/drawingml/2006/main" w="9525">
            <a:solidFill>
              <a:srgbClr val="19384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probability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5DB5A-9BB7-4C20-B919-11F6E02A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9384B"/>
          </a:solidFill>
          <a:ln xmlns:a="http://schemas.openxmlformats.org/drawingml/2006/main" w="9525">
            <a:solidFill>
              <a:srgbClr val="19384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conformal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74666-614C-4949-8EC0-4854C78C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956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9384B"/>
          </a:solidFill>
          <a:ln xmlns:a="http://schemas.openxmlformats.org/drawingml/2006/main" w="9525">
            <a:solidFill>
              <a:srgbClr val="19384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distance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26BAB-1F76-4CCE-A01E-5CE4191F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B1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D24E3-B3E6-4407-92CB-F52B3768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B15C"/>
          </a:solidFill>
          <a:ln xmlns:a="http://schemas.openxmlformats.org/drawingml/2006/main" w="9525">
            <a:solidFill>
              <a:srgbClr val="FFB15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locked</a:t>
            </a:r>
          </a:p>
          <a:p xmlns:a="http://schemas.openxmlformats.org/drawingml/2006/main">
            <a:pPr algn="ctr">
              <a:defRPr sz="13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release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5CD3F-20EB-48BA-980E-1CF37E71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8CBD5"/>
                </a:solidFill>
                <a:latin typeface="Arial"/>
                <a:ea typeface="Arial"/>
                <a:cs typeface="Arial"/>
              </a:rPr>
              <a:t>API / batch exact parity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A4370-79D6-48D8-B0FF-919D426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DE2A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DE2A5"/>
                </a:solidFill>
                <a:latin typeface="Arial"/>
                <a:ea typeface="Arial"/>
                <a:cs typeface="Arial"/>
              </a:rPr>
              <a:t>101/101 = 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B3BED-A425-4D6E-9EE2-0079E838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最大浮点绝对差 0 · regression 18/18 · SHA-256 10/10</a:t>
            </a:r>
          </a:p>
        </p:txBody>
      </p:sp>
    </p:spTree>
    <p:extLst>
      <p:ext uri="{BB962C8B-B14F-4D97-AF65-F5344CB8AC3E}">
        <p14:creationId xmlns:p14="http://schemas.microsoft.com/office/powerpoint/2010/main" val="175777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212D6-1BC7-46C0-9128-DBEAC895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10 · EXPLAINABILITY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90002-8610-4555-B4BF-47C955E5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Explainability：解释模型如何判断，不伪装成因果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03209-AFDE-490F-B6F0-89F7B1DD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456DD-FD44-4CA9-BDB0-8012FD63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F9197-AA14-49E7-80F1-8D4F0075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c6d349e1f48ea"/>
          <a:stretch xmlns:a="http://schemas.openxmlformats.org/drawingml/2006/main"/>
        </p:blipFill>
        <p:spPr>
          <a:xfrm xmlns:a="http://schemas.openxmlformats.org/drawingml/2006/main">
            <a:off x="685800" y="1725083"/>
            <a:ext cx="4953000" cy="3026833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307287a904759"/>
          <a:stretch xmlns:a="http://schemas.openxmlformats.org/drawingml/2006/main"/>
        </p:blipFill>
        <p:spPr>
          <a:xfrm xmlns:a="http://schemas.openxmlformats.org/drawingml/2006/main">
            <a:off x="6076950" y="1725083"/>
            <a:ext cx="4953000" cy="30268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9E6CB-F567-415A-B7D3-A3F38F14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Top variables: P / WSTA / TAVG / WFWA / LSGA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40BE2-20E5-44CC-837D-46C79E1A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19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Top-5 Jaccard 0.9722 · family faithfulness +0.7532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D8738-BD47-4E0A-852D-95ECC8CA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6FBFF"/>
                </a:solidFill>
                <a:latin typeface="Arial"/>
                <a:ea typeface="Arial"/>
                <a:cs typeface="Arial"/>
              </a:rPr>
              <a:t>18 gate：artifact SHA-256 10/10 · parity 101/101 · regression 18/18</a:t>
            </a:r>
          </a:p>
        </p:txBody>
      </p:sp>
    </p:spTree>
    <p:extLst>
      <p:ext uri="{BB962C8B-B14F-4D97-AF65-F5344CB8AC3E}">
        <p14:creationId xmlns:p14="http://schemas.microsoft.com/office/powerpoint/2010/main" val="4351051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906FB-DCC5-4B2C-8227-8AB02F3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11 ·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3A7C3-7BC1-44F0-B619-506958E5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Dashboard：把诊断、拒答和解释放进同一页面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9F3E1-EFAE-432D-9DF1-D04C3860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BBD84-E9CE-48C5-A69F-3E10F445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9F3C8-DC7D-459B-AB97-269E560C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D2624-F790-40DD-B894-C159788D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真实样例路径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9AC50-F7F1-43BB-94A6-F168E828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6FBFF"/>
                </a:solidFill>
                <a:latin typeface="Arial"/>
                <a:ea typeface="Arial"/>
                <a:cs typeface="Arial"/>
              </a:rPr>
              <a:t>FLB/10.csv · LOCAC/19.csv · LOCAC/12.csv · LR/93.csv · 50 s truncation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CEC1F-EBBF-4B1A-964B-45414E62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0" cy="1752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DE2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1B60F-89F1-4074-9468-969A2CE3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DE2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DE2A5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36453-EA42-4366-A078-787304D5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6FBFF"/>
                </a:solidFill>
                <a:latin typeface="Arial"/>
                <a:ea typeface="Arial"/>
                <a:cs typeface="Arial"/>
              </a:rPr>
              <a:t>研究模型接受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B48AF-8FBA-44D5-8E6B-226BF455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0" cy="1752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B1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5327E-B797-4FDB-906E-A20C5739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requires_review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D7E85-775A-4A11-9133-D27C03FB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6FBFF"/>
                </a:solidFill>
                <a:latin typeface="Arial"/>
                <a:ea typeface="Arial"/>
                <a:cs typeface="Arial"/>
              </a:rPr>
              <a:t>OOD / 能力边界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11139-1ABE-447C-B6B5-83C8A3F0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0" cy="1752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F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5685F-1E09-414E-9ED0-4AEC69B1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7F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7F6B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82A17-5FE1-4FA2-A266-F92D51E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6FBFF"/>
                </a:solidFill>
                <a:latin typeface="Arial"/>
                <a:ea typeface="Arial"/>
                <a:cs typeface="Arial"/>
              </a:rPr>
              <a:t>证据不足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D14FD-C05A-48D6-BCC0-B39D175D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0" cy="1752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CB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F06E8-8E6B-4198-AA6E-94E561A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invalid_input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F04BE-76DC-45DF-B3EF-167819EC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6FBFF"/>
                </a:solidFill>
                <a:latin typeface="Arial"/>
                <a:ea typeface="Arial"/>
                <a:cs typeface="Arial"/>
              </a:rPr>
              <a:t>预测前拒绝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FC7B6-819A-4E03-9540-99978A7B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5/5 smoke · 3/3 helper · HTTP 200 · AppTest 0 exceptions · JSON export excludes raw 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E1C2F-61CB-485A-844C-7F62DCF2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CBD5"/>
                </a:solidFill>
                <a:latin typeface="Arial"/>
                <a:ea typeface="Arial"/>
                <a:cs typeface="Arial"/>
              </a:rPr>
              <a:t>本次交付未生成虚构截图；演示使用仓库中的真实样例路径。</a:t>
            </a:r>
          </a:p>
        </p:txBody>
      </p:sp>
    </p:spTree>
    <p:extLst>
      <p:ext uri="{BB962C8B-B14F-4D97-AF65-F5344CB8AC3E}">
        <p14:creationId xmlns:p14="http://schemas.microsoft.com/office/powerpoint/2010/main" val="1665293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B468A-E17A-43B5-A46B-311C64FC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12 ·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42F29-4957-410C-A4EE-38FBA79C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关键实验总表：数字必须连同协议一起看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FD002-B12F-41E7-8E19-30D53D99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18E8C-BDDD-43FB-9812-CFBD6BE4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D04DC-EC09-49DC-8A0B-9E09C8FB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466725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6FBFF"/>
                          </a:solidFill>
                          <a:latin typeface="Arial"/>
                          <a:ea typeface="Arial"/>
                          <a:cs typeface="Arial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6B8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6FBFF"/>
                          </a:solidFill>
                          <a:latin typeface="Arial"/>
                          <a:ea typeface="Arial"/>
                          <a:cs typeface="Arial"/>
                        </a:rPr>
                        <a:t>协议 / 窗口</a:t>
                      </a:r>
                    </a:p>
                  </a:txBody>
                  <a:tcPr marL="91440" marR="91440" marT="45720" marB="45720">
                    <a:solidFill>
                      <a:srgbClr val="16B8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6FBFF"/>
                          </a:solidFill>
                          <a:latin typeface="Arial"/>
                          <a:ea typeface="Arial"/>
                          <a:cs typeface="Arial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6B8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6FBFF"/>
                          </a:solidFill>
                          <a:latin typeface="Arial"/>
                          <a:ea typeface="Arial"/>
                          <a:cs typeface="Arial"/>
                        </a:rPr>
                        <a:t>记录</a:t>
                      </a:r>
                    </a:p>
                  </a:txBody>
                  <a:tcPr marL="91440" marR="91440" marT="45720" marB="45720">
                    <a:solidFill>
                      <a:srgbClr val="16B8A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07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grouped · 120 s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LOCA MAE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0.4492 pp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08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strict · 60 s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Protection MAE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86.826 s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random · 30/60/120 s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0.1928 / 0.1928 / 0.7526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blocked / extrapolation · 120 s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0.5931 / 0.4826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extrapolation · alpha .10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Coverage / F1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68.9% / 0.6700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17.2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locked · 101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Parity / regression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101/101 / 18/18</a:t>
                      </a:r>
                    </a:p>
                  </a:txBody>
                  <a:tcPr marL="91440" marR="91440" marT="45720" marB="45720">
                    <a:solidFill>
                      <a:srgbClr val="F6FB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Streamlit local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Dashboard tests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B1F2A"/>
                          </a:solidFill>
                          <a:latin typeface="Arial"/>
                          <a:ea typeface="Arial"/>
                          <a:cs typeface="Arial"/>
                        </a:rPr>
                        <a:t>5/5 / 3/3 / HTTP 200</a:t>
                      </a:r>
                    </a:p>
                  </a:txBody>
                  <a:tcPr marL="91440" marR="91440" marT="45720" marB="45720">
                    <a:solidFill>
                      <a:srgbClr val="E7EEF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75318-30FB-4667-824C-FDCB33FD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B8CBD5"/>
                </a:solidFill>
                <a:latin typeface="Arial"/>
                <a:ea typeface="Arial"/>
                <a:cs typeface="Arial"/>
              </a:rPr>
              <a:t>协议差异、支持度与限制见 docs/NPP-Guard_Key_Results_Table.md</a:t>
            </a:r>
          </a:p>
        </p:txBody>
      </p:sp>
    </p:spTree>
    <p:extLst>
      <p:ext uri="{BB962C8B-B14F-4D97-AF65-F5344CB8AC3E}">
        <p14:creationId xmlns:p14="http://schemas.microsoft.com/office/powerpoint/2010/main" val="3002370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9CC04-08D2-4451-BD3E-DF0A12A7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13 ·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C5A34-D5E7-4020-8DF0-BC1AF30B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方法学贡献与项目化交付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D7FFE-9A0B-40E6-ADFA-420B74FE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AB8BF-B8B8-415C-A3F8-DC9F00D6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71F13-BDB9-4B0B-88DF-A9990B5A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9B695-724F-4B60-AC10-4097F1B9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方法学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D703C-5CD8-4D34-950E-00C9AB8C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1  完整 trajectory/sample_id 分组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D8A05-8F10-49B0-BFD7-2EB3B5CF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2  train-only preprocessing + leakage flags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0C673-C0C8-44AB-B7D1-2B3DF67D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3  random / blocked / extrapolation 分开报告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55873-F590-4737-9D73-32667BE6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交付形态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23A58-D302-467C-94F2-5020661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1  conformal + distance 的主动拒答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89E8C-C3F5-4BF8-A177-ECDF179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67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2  冻结 artifact + exact parity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C5F79-4A29-4862-A9C8-1AA43B3C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3  解释层与 Streamlit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35B12-26DD-4D8E-A619-1B081792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0" cy="2838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64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54D17-ECBD-4332-810D-715A96D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43500"/>
            <a:ext cx="857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2638"/>
          </a:solidFill>
          <a:ln xmlns:a="http://schemas.openxmlformats.org/drawingml/2006/main" w="9525">
            <a:solidFill>
              <a:srgbClr val="4CD7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重点不是把系统包装成“99% 分类器”，而是让每个结论带着协议、证据和边界。</a:t>
            </a:r>
          </a:p>
        </p:txBody>
      </p:sp>
    </p:spTree>
    <p:extLst>
      <p:ext uri="{BB962C8B-B14F-4D97-AF65-F5344CB8AC3E}">
        <p14:creationId xmlns:p14="http://schemas.microsoft.com/office/powerpoint/2010/main" val="20999234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F2072-0418-476D-9503-2058FF20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14 ·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93A3B-8526-4452-A6BD-9B461753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局限性与下一步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F8676-28D1-43D3-BE97-726179FC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7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2572C-10C6-4699-ACEA-91CB150A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CBD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0BD86-3547-4518-9E3D-188947EE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CBD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B8CBD5"/>
                </a:solidFill>
                <a:latin typeface="Arial"/>
                <a:ea typeface="Arial"/>
                <a:cs typeface="Arial"/>
              </a:rPr>
              <a:t>research prototype · simulation data · not for safety-critical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3E303-1DBA-41BE-9818-3528964E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CD7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D7E8"/>
                </a:solidFill>
                <a:latin typeface="Arial"/>
                <a:ea typeface="Arial"/>
                <a:cs typeface="Arial"/>
              </a:rPr>
              <a:t>当前能交付的，是一个可审计的研究原型。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1D198-8A2A-4C61-9AF0-92E82333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—  Normal reference 不足，early-warning 仍不充分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520D8-18F3-41A5-9EA2-67BAB871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—  severity extrapolation 性能下降，部分类支持度低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420AE-192C-4A00-984D-8CF205F2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—  conformal 经验 coverage 不是统计保证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75EDA-060E-40AB-B4C1-D9B7D30E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6FBFF"/>
                </a:solidFill>
                <a:latin typeface="Arial"/>
                <a:ea typeface="Arial"/>
                <a:cs typeface="Arial"/>
              </a:rPr>
              <a:t>—  subtype OOD 与 protection-time 链式输入未解决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ADC90-56D5-4DA8-9E65-9C95CC34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64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82AE2-1DD0-4A4B-8C3A-0A6089C2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80FB7-EE2F-43C8-9E03-5F4C882E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9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固定功率 Normal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跨工况外部测试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更多 severity 覆盖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F6F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BFF"/>
                </a:solidFill>
                <a:latin typeface="Arial"/>
                <a:ea typeface="Arial"/>
                <a:cs typeface="Arial"/>
              </a:rPr>
              <a:t>更严格 uncertainty calibration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F637D-843C-4E15-96C8-99F09A1C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在这些边界补齐前，不把 NPP-Guard 表述为真实核电站安全系统。</a:t>
            </a:r>
          </a:p>
        </p:txBody>
      </p:sp>
    </p:spTree>
    <p:extLst>
      <p:ext uri="{BB962C8B-B14F-4D97-AF65-F5344CB8AC3E}">
        <p14:creationId xmlns:p14="http://schemas.microsoft.com/office/powerpoint/2010/main" val="675224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2026-09-21T16:16:23.1070000Z</dcterms:created>
  <dcterms:modified xsi:type="dcterms:W3CDTF">2026-09-21T16:16:23.1070000Z</dcterms:modified>
</coreProperties>
</file>